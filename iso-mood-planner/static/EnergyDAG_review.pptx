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/ reference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48-4FC6-9D6D-3D5B0D2A9A77}"/>
              </c:ext>
            </c:extLst>
          </c:dPt>
          <c:dPt>
            <c:idx val="1"/>
            <c:invertIfNegative val="0"/>
            <c:bubble3D val="0"/>
            <c:spPr>
              <a:solidFill>
                <a:srgbClr val="1F7A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48-4FC6-9D6D-3D5B0D2A9A77}"/>
              </c:ext>
            </c:extLst>
          </c:dPt>
          <c:dPt>
            <c:idx val="2"/>
            <c:invertIfNegative val="0"/>
            <c:bubble3D val="0"/>
            <c:spPr>
              <a:solidFill>
                <a:srgbClr val="1F7A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48-4FC6-9D6D-3D5B0D2A9A77}"/>
              </c:ext>
            </c:extLst>
          </c:dPt>
          <c:dPt>
            <c:idx val="3"/>
            <c:invertIfNegative val="0"/>
            <c:bubble3D val="0"/>
            <c:spPr>
              <a:solidFill>
                <a:srgbClr val="1F7A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D48-4FC6-9D6D-3D5B0D2A9A77}"/>
              </c:ext>
            </c:extLst>
          </c:dPt>
          <c:dPt>
            <c:idx val="4"/>
            <c:invertIfNegative val="0"/>
            <c:bubble3D val="0"/>
            <c:spPr>
              <a:solidFill>
                <a:srgbClr val="1F7A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D48-4FC6-9D6D-3D5B0D2A9A77}"/>
              </c:ext>
            </c:extLst>
          </c:dPt>
          <c:dPt>
            <c:idx val="5"/>
            <c:invertIfNegative val="0"/>
            <c:bubble3D val="0"/>
            <c:spPr>
              <a:solidFill>
                <a:srgbClr val="1F7A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D48-4FC6-9D6D-3D5B0D2A9A77}"/>
              </c:ext>
            </c:extLst>
          </c:dPt>
          <c:dPt>
            <c:idx val="6"/>
            <c:invertIfNegative val="0"/>
            <c:bubble3D val="0"/>
            <c:spPr>
              <a:solidFill>
                <a:srgbClr val="1F7A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D48-4FC6-9D6D-3D5B0D2A9A77}"/>
              </c:ext>
            </c:extLst>
          </c:dPt>
          <c:dPt>
            <c:idx val="7"/>
            <c:invertIfNegative val="0"/>
            <c:bubble3D val="0"/>
            <c:spPr>
              <a:solidFill>
                <a:srgbClr val="F2A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D48-4FC6-9D6D-3D5B0D2A9A77}"/>
              </c:ext>
            </c:extLst>
          </c:dPt>
          <c:dPt>
            <c:idx val="8"/>
            <c:invertIfNegative val="0"/>
            <c:bubble3D val="0"/>
            <c:spPr>
              <a:solidFill>
                <a:srgbClr val="F2A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D48-4FC6-9D6D-3D5B0D2A9A7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302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Stock plan</c:v>
                </c:pt>
                <c:pt idx="1">
                  <c:v>Fused, best device</c:v>
                </c:pt>
                <c:pt idx="2">
                  <c:v>Latency-optimised</c:v>
                </c:pt>
                <c:pt idx="3">
                  <c:v>Evo (measured)</c:v>
                </c:pt>
                <c:pt idx="4">
                  <c:v>GPU-only active</c:v>
                </c:pt>
                <c:pt idx="5">
                  <c:v>Random</c:v>
                </c:pt>
                <c:pt idx="6">
                  <c:v>Offline surrogate</c:v>
                </c:pt>
                <c:pt idx="7">
                  <c:v>Active (ours)</c:v>
                </c:pt>
                <c:pt idx="8">
                  <c:v>Active, no uncertainty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4.57</c:v>
                </c:pt>
                <c:pt idx="1">
                  <c:v>2.06</c:v>
                </c:pt>
                <c:pt idx="2">
                  <c:v>1.67</c:v>
                </c:pt>
                <c:pt idx="3">
                  <c:v>1.28</c:v>
                </c:pt>
                <c:pt idx="4">
                  <c:v>1.23</c:v>
                </c:pt>
                <c:pt idx="5">
                  <c:v>1.2</c:v>
                </c:pt>
                <c:pt idx="6">
                  <c:v>0.97</c:v>
                </c:pt>
                <c:pt idx="7">
                  <c:v>0.85</c:v>
                </c:pt>
                <c:pt idx="8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D48-4FC6-9D6D-3D5B0D2A9A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30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33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choose how to run a neural network (fusion, precision, device) to minimise energy, using as few hardware measurements as possible. Everything is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plan = fp32, everything on CPU, no fusion. 4.57x is the average over four models relative to the reference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mobilenet-like graph has 59 ops, 3 devices, 3 precisions and 34 fusion switches, so the number of plans is astronomical.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method gets the same B, which is what makes the comparison fair. The default measurement counts toward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Epistemic uncertainty: from lack of data. This is a lower-confidence-bound rule from Bayesian optimisation. Honest finding: it did not add measurable value here; correlation between std and error was weak (about 0 to 0.42).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search = evolutionary search on the noise-free simulator with no measurement limit. It is a yardstick, not a proven optimum. Constants are illustrative, not calibrated.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over 4 models and 5 seeds. Values below 1.00 are possible because the reference search is not a true optimum. Plans that break constraints are scored as the stock plan. Differences of about 0.1 are within noise at 5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Leave-one-decision-out, not Shapley, so interactions between decisions are ignored. Resnet has the weakest predictor (33% error) and the weakest fidelity (0.64).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negative result: the gain comes from the iterative retrain-and-search loop, not the uncertainty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005840"/>
            <a:ext cx="2194560" cy="219456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675120" y="1005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 Aware DAG Compiler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82948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/>
              <a:t>Akshit </a:t>
            </a:r>
            <a:r>
              <a:rPr lang="en-US" sz="2000" dirty="0" err="1"/>
              <a:t>Saharia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Swarali Upadhyay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course review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many ways to run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is a DAG of operators.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can run in many ways, and energy changes a lot between them.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lowest energy, while accuracy drop stays within 1% and latency within 1.25x of the default.</a:t>
            </a:r>
            <a:endParaRPr lang="en-US" sz="1800" dirty="0"/>
          </a:p>
        </p:txBody>
      </p:sp>
      <p:sp>
        <p:nvSpPr>
          <p:cNvPr id="4" name="stat card 0"/>
          <p:cNvSpPr/>
          <p:nvPr/>
        </p:nvSpPr>
        <p:spPr>
          <a:xfrm>
            <a:off x="4937760" y="128016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7492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4.57x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the stock plan vs. the reference plan</a:t>
            </a:r>
            <a:endParaRPr lang="en-US" sz="1400" dirty="0"/>
          </a:p>
        </p:txBody>
      </p:sp>
      <p:sp>
        <p:nvSpPr>
          <p:cNvPr id="7" name="stat card 1"/>
          <p:cNvSpPr/>
          <p:nvPr/>
        </p:nvSpPr>
        <p:spPr>
          <a:xfrm>
            <a:off x="4937760" y="237744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accuracy drop allowed</a:t>
            </a:r>
            <a:endParaRPr lang="en-US" sz="1400" dirty="0"/>
          </a:p>
        </p:txBody>
      </p:sp>
      <p:sp>
        <p:nvSpPr>
          <p:cNvPr id="10" name="stat card 2"/>
          <p:cNvSpPr/>
          <p:nvPr/>
        </p:nvSpPr>
        <p:spPr>
          <a:xfrm>
            <a:off x="4937760" y="347472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3474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1.25x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latency vs. default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= three kinds of choices</a:t>
            </a:r>
            <a:endParaRPr lang="en-US" sz="3000" dirty="0"/>
          </a:p>
        </p:txBody>
      </p:sp>
      <p:sp>
        <p:nvSpPr>
          <p:cNvPr id="3" name="plan card 0"/>
          <p:cNvSpPr/>
          <p:nvPr/>
        </p:nvSpPr>
        <p:spPr>
          <a:xfrm>
            <a:off x="457200" y="11887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num 0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neighbouring ops (conv + bn + relu) so intermediate data skips memory.</a:t>
            </a:r>
            <a:endParaRPr lang="en-US" sz="1400" dirty="0"/>
          </a:p>
        </p:txBody>
      </p:sp>
      <p:sp>
        <p:nvSpPr>
          <p:cNvPr id="8" name="plan card 1"/>
          <p:cNvSpPr/>
          <p:nvPr/>
        </p:nvSpPr>
        <p:spPr>
          <a:xfrm>
            <a:off x="3246120" y="11887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9" name="num 1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fp32, fp16 or int8 per op. Cheaper and faster, but int8 costs accuracy.</a:t>
            </a:r>
            <a:endParaRPr lang="en-US" sz="1400" dirty="0"/>
          </a:p>
        </p:txBody>
      </p:sp>
      <p:sp>
        <p:nvSpPr>
          <p:cNvPr id="13" name="plan card 2"/>
          <p:cNvSpPr/>
          <p:nvPr/>
        </p:nvSpPr>
        <p:spPr>
          <a:xfrm>
            <a:off x="6035040" y="11887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4" name="num 2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GPU or NPU per op. Moving data between devices costs time and energy.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plan: </a:t>
            </a:r>
            <a:r>
              <a:rPr lang="en-US" sz="16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fp32, everything on the CPU, no fusion. Search = looking for a better plan without trying them 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B: why measurements are limited</a:t>
            </a:r>
            <a:endParaRPr lang="en-US" sz="3000" dirty="0"/>
          </a:p>
        </p:txBody>
      </p:sp>
      <p:sp>
        <p:nvSpPr>
          <p:cNvPr id="3" name="step 0"/>
          <p:cNvSpPr/>
          <p:nvPr/>
        </p:nvSpPr>
        <p:spPr>
          <a:xfrm>
            <a:off x="457200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2A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371600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 few plans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38528" y="2148840"/>
            <a:ext cx="192024" cy="0"/>
          </a:xfrm>
          <a:prstGeom prst="line">
            <a:avLst/>
          </a:prstGeom>
          <a:noFill/>
          <a:ln w="25400">
            <a:solidFill>
              <a:srgbClr val="5B7B77"/>
            </a:solidFill>
            <a:prstDash val="solid"/>
            <a:tailEnd type="triangle"/>
          </a:ln>
        </p:spPr>
      </p:sp>
      <p:sp>
        <p:nvSpPr>
          <p:cNvPr id="6" name="step 1"/>
          <p:cNvSpPr/>
          <p:nvPr/>
        </p:nvSpPr>
        <p:spPr>
          <a:xfrm>
            <a:off x="2148840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1F7A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21992" y="1371600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predictor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30168" y="2148840"/>
            <a:ext cx="192024" cy="0"/>
          </a:xfrm>
          <a:prstGeom prst="line">
            <a:avLst/>
          </a:prstGeom>
          <a:noFill/>
          <a:ln w="25400">
            <a:solidFill>
              <a:srgbClr val="5B7B77"/>
            </a:solidFill>
            <a:prstDash val="solid"/>
            <a:tailEnd type="triangle"/>
          </a:ln>
        </p:spPr>
      </p:sp>
      <p:sp>
        <p:nvSpPr>
          <p:cNvPr id="9" name="step 2"/>
          <p:cNvSpPr/>
          <p:nvPr/>
        </p:nvSpPr>
        <p:spPr>
          <a:xfrm>
            <a:off x="3840480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1F7A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13632" y="1371600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thousands of plans for free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21808" y="2148840"/>
            <a:ext cx="192024" cy="0"/>
          </a:xfrm>
          <a:prstGeom prst="line">
            <a:avLst/>
          </a:prstGeom>
          <a:noFill/>
          <a:ln w="25400">
            <a:solidFill>
              <a:srgbClr val="5B7B77"/>
            </a:solidFill>
            <a:prstDash val="solid"/>
            <a:tailEnd type="triangle"/>
          </a:ln>
        </p:spPr>
      </p:sp>
      <p:sp>
        <p:nvSpPr>
          <p:cNvPr id="12" name="step 3"/>
          <p:cNvSpPr/>
          <p:nvPr/>
        </p:nvSpPr>
        <p:spPr>
          <a:xfrm>
            <a:off x="5532120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2A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05272" y="1371600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only the best few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13448" y="2148840"/>
            <a:ext cx="192024" cy="0"/>
          </a:xfrm>
          <a:prstGeom prst="line">
            <a:avLst/>
          </a:prstGeom>
          <a:noFill/>
          <a:ln w="25400">
            <a:solidFill>
              <a:srgbClr val="5B7B77"/>
            </a:solidFill>
            <a:prstDash val="solid"/>
            <a:tailEnd type="triangle"/>
          </a:ln>
        </p:spPr>
      </p:sp>
      <p:sp>
        <p:nvSpPr>
          <p:cNvPr id="15" name="step 4"/>
          <p:cNvSpPr/>
          <p:nvPr/>
        </p:nvSpPr>
        <p:spPr>
          <a:xfrm>
            <a:off x="7223760" y="137160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1F7A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6912" y="1371600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B is used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number of hardware measurements allowed.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measurement is slow, and the plan space is huge, so the question is how good a plan we find per measurement.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uncertainty means 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5 networks, each trained on a different resample of the data.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between them (std) = uncertainty.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energy, low std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Confidently bad: skip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energy, low std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Unsure, std 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 be great: 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setup (no hardware)</a:t>
            </a:r>
            <a:endParaRPr lang="en-US" sz="3000" dirty="0"/>
          </a:p>
        </p:txBody>
      </p:sp>
      <p:sp>
        <p:nvSpPr>
          <p:cNvPr id="3" name="Simulated platform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platform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GPU and NPU with illustrative speed and power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measurements, like a power meter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models: mobilenet, resnet, bert, branching pipeline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seeds, budgets 10 / 25 / 50 / 100</a:t>
            </a:r>
            <a:endParaRPr lang="en-US" sz="1400" dirty="0"/>
          </a:p>
        </p:txBody>
      </p:sp>
      <p:sp>
        <p:nvSpPr>
          <p:cNvPr id="6" name="Methods compare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compared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plan, fused best single device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and evolutionary search (measured)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surrogate (train once, then search)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search (ours) and two ablations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search: big, unlimited-budget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energy at 100 measurements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18872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= reference search. Lower is better.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beats the stock plan by about 5x.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search is best, tied with its no-uncertainty ablation.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is not efficient: latency-optimised plans use more energy.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Explanations and predictor quality</a:t>
            </a:r>
            <a:endParaRPr lang="en-US" sz="3000" dirty="0"/>
          </a:p>
        </p:txBody>
      </p:sp>
      <p:sp>
        <p:nvSpPr>
          <p:cNvPr id="3" name="stat2 0"/>
          <p:cNvSpPr/>
          <p:nvPr/>
        </p:nvSpPr>
        <p:spPr>
          <a:xfrm>
            <a:off x="457200" y="11887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0.64 - 0.94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correlation: predicted vs. true energy change per decision</a:t>
            </a:r>
            <a:endParaRPr lang="en-US" sz="1400" dirty="0"/>
          </a:p>
        </p:txBody>
      </p:sp>
      <p:sp>
        <p:nvSpPr>
          <p:cNvPr id="6" name="stat2 1"/>
          <p:cNvSpPr/>
          <p:nvPr/>
        </p:nvSpPr>
        <p:spPr>
          <a:xfrm>
            <a:off x="3246120" y="11887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25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22 - 33%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103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error (MAPE) on unseen plans</a:t>
            </a:r>
            <a:endParaRPr lang="en-US" sz="1400" dirty="0"/>
          </a:p>
        </p:txBody>
      </p:sp>
      <p:sp>
        <p:nvSpPr>
          <p:cNvPr id="9" name="stat2 2"/>
          <p:cNvSpPr/>
          <p:nvPr/>
        </p:nvSpPr>
        <p:spPr>
          <a:xfrm>
            <a:off x="6035040" y="11887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25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0.0 - 0.4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103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uncertainty with real error: weak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explanations work: </a:t>
            </a:r>
            <a:r>
              <a:rPr lang="en-US" sz="16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one decision at a time and see how much energy changes. Example: moving one conv to the NPU saved about 33 mJ.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takeaways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80% less energy than the stock plan (simulated)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surrogate search beats random: 0.85 vs 1.20 at B=100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placement beats single-device when budget is large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track ground truth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916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term gave no measurable gain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only; accuracy is a formula, not measured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seeds, no error bars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shown: 5-10x fewer measurements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B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ergyDAG">
  <a:themeElements>
    <a:clrScheme name="EnergyDAG">
      <a:dk1>
        <a:srgbClr val="13302D"/>
      </a:dk1>
      <a:lt1>
        <a:srgbClr val="FFFFFF"/>
      </a:lt1>
      <a:dk2>
        <a:srgbClr val="0B3D3A"/>
      </a:dk2>
      <a:lt2>
        <a:srgbClr val="EEF4F2"/>
      </a:lt2>
      <a:accent1>
        <a:srgbClr val="1F7A6D"/>
      </a:accent1>
      <a:accent2>
        <a:srgbClr val="F2A33A"/>
      </a:accent2>
      <a:accent3>
        <a:srgbClr val="8FB9AF"/>
      </a:accent3>
      <a:accent4>
        <a:srgbClr val="C8553D"/>
      </a:accent4>
      <a:accent5>
        <a:srgbClr val="5B7B77"/>
      </a:accent5>
      <a:accent6>
        <a:srgbClr val="D9E6E2"/>
      </a:accent6>
      <a:hlink>
        <a:srgbClr val="1F7A6D"/>
      </a:hlink>
      <a:folHlink>
        <a:srgbClr val="5B7B77"/>
      </a:folHlink>
    </a:clrScheme>
    <a:fontScheme name="EnergyDA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862</Words>
  <Application>Microsoft Office PowerPoint</Application>
  <PresentationFormat>On-screen Show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EnergyDAG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EnergyDAG review</dc:title>
  <dc:subject>PptxGenJS Presentation</dc:subject>
  <dc:creator>PptxGenJS</dc:creator>
  <cp:lastModifiedBy>Swarali Upadhyay</cp:lastModifiedBy>
  <cp:revision>2</cp:revision>
  <dcterms:created xsi:type="dcterms:W3CDTF">2026-10-21T11:03:45Z</dcterms:created>
  <dcterms:modified xsi:type="dcterms:W3CDTF">2026-10-21T11:13:54Z</dcterms:modified>
</cp:coreProperties>
</file>